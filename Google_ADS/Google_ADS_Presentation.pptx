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MT Condensed Italics" charset="1" panose="02030506070405090303"/>
      <p:regular r:id="rId13"/>
    </p:embeddedFont>
    <p:embeddedFont>
      <p:font typeface="Helvetica World" charset="1" panose="020B0500040000020004"/>
      <p:regular r:id="rId14"/>
    </p:embeddedFont>
    <p:embeddedFont>
      <p:font typeface="Helvetica World Bold" charset="1" panose="020B080004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3734" y="1602022"/>
            <a:ext cx="7460533" cy="3541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9"/>
              </a:lnSpc>
            </a:pPr>
            <a:r>
              <a:rPr lang="en-US" sz="9549" i="true" spc="-57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Google Ads </a:t>
            </a:r>
            <a:r>
              <a:rPr lang="en-US" sz="9549" i="true" spc="-572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Performance Report</a:t>
            </a:r>
          </a:p>
          <a:p>
            <a:pPr algn="ctr">
              <a:lnSpc>
                <a:spcPts val="7162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267973" y="4160169"/>
            <a:ext cx="5752055" cy="255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3"/>
              </a:lnSpc>
            </a:pPr>
            <a:r>
              <a:rPr lang="en-US" sz="6593" spc="-3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6593" spc="-39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ovember 2024 Analysis</a:t>
            </a:r>
          </a:p>
          <a:p>
            <a:pPr algn="ctr">
              <a:lnSpc>
                <a:spcPts val="659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23372" y="8241902"/>
            <a:ext cx="1224125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November 2024 — $33.4M Ad Spend, 110K+ Conversions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4126231" cy="2630440"/>
            <a:chOff x="0" y="0"/>
            <a:chExt cx="5501641" cy="3507253"/>
          </a:xfrm>
        </p:grpSpPr>
        <p:sp>
          <p:nvSpPr>
            <p:cNvPr name="AutoShape 3" id="3"/>
            <p:cNvSpPr/>
            <p:nvPr/>
          </p:nvSpPr>
          <p:spPr>
            <a:xfrm>
              <a:off x="0" y="3481853"/>
              <a:ext cx="1056177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5501641" cy="2923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CAMPAIGN OVERVIEW</a:t>
              </a:r>
            </a:p>
            <a:p>
              <a:pPr algn="l">
                <a:lnSpc>
                  <a:spcPts val="56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65682" y="1388110"/>
            <a:ext cx="539361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59559" y="6827376"/>
            <a:ext cx="7680769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✓ Ident</a:t>
            </a: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ified high-performing ads with CPA as low as $690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9175" y="3420640"/>
            <a:ext cx="9878001" cy="19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sis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d: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1-30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Novembe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2024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udget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$33.4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lli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2.3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|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110K+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7022" y="8024495"/>
            <a:ext cx="7680769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✓ Discover</a:t>
            </a: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significant CPA variance between best/worst performers</a:t>
            </a:r>
          </a:p>
          <a:p>
            <a:pPr algn="l">
              <a:lnSpc>
                <a:spcPts val="3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63231" y="8024495"/>
            <a:ext cx="7680769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✓ Uncover</a:t>
            </a:r>
            <a:r>
              <a:rPr lang="en-US" sz="3200" spc="-12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optimization opportunities for 40%+ of budget</a:t>
            </a:r>
          </a:p>
          <a:p>
            <a:pPr algn="l">
              <a:lnSpc>
                <a:spcPts val="32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24230"/>
            <a:ext cx="7600328" cy="4040140"/>
            <a:chOff x="0" y="0"/>
            <a:chExt cx="10133770" cy="5386853"/>
          </a:xfrm>
        </p:grpSpPr>
        <p:sp>
          <p:nvSpPr>
            <p:cNvPr name="AutoShape 3" id="3"/>
            <p:cNvSpPr/>
            <p:nvPr/>
          </p:nvSpPr>
          <p:spPr>
            <a:xfrm>
              <a:off x="0" y="5361453"/>
              <a:ext cx="1945429" cy="0"/>
            </a:xfrm>
            <a:prstGeom prst="line">
              <a:avLst/>
            </a:prstGeom>
            <a:ln cap="rnd" w="50800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10133770" cy="2923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spc="-336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OVERALL CAMPAIGN PERFORMANCE</a:t>
              </a:r>
            </a:p>
            <a:p>
              <a:pPr algn="l">
                <a:lnSpc>
                  <a:spcPts val="56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84928" y="3440065"/>
            <a:ext cx="4661412" cy="2751252"/>
            <a:chOff x="0" y="0"/>
            <a:chExt cx="137711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7117" cy="812800"/>
            </a:xfrm>
            <a:custGeom>
              <a:avLst/>
              <a:gdLst/>
              <a:ahLst/>
              <a:cxnLst/>
              <a:rect r="r" b="b" t="t" l="l"/>
              <a:pathLst>
                <a:path h="812800" w="1377117">
                  <a:moveTo>
                    <a:pt x="0" y="0"/>
                  </a:moveTo>
                  <a:lnTo>
                    <a:pt x="1377117" y="0"/>
                  </a:lnTo>
                  <a:lnTo>
                    <a:pt x="137711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377117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758663" y="3450619"/>
            <a:ext cx="4661412" cy="2751252"/>
            <a:chOff x="0" y="0"/>
            <a:chExt cx="137711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7117" cy="812800"/>
            </a:xfrm>
            <a:custGeom>
              <a:avLst/>
              <a:gdLst/>
              <a:ahLst/>
              <a:cxnLst/>
              <a:rect r="r" b="b" t="t" l="l"/>
              <a:pathLst>
                <a:path h="812800" w="1377117">
                  <a:moveTo>
                    <a:pt x="0" y="0"/>
                  </a:moveTo>
                  <a:lnTo>
                    <a:pt x="1377117" y="0"/>
                  </a:lnTo>
                  <a:lnTo>
                    <a:pt x="137711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377117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84928" y="6314566"/>
            <a:ext cx="4661412" cy="2751252"/>
            <a:chOff x="0" y="0"/>
            <a:chExt cx="1377117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7117" cy="812800"/>
            </a:xfrm>
            <a:custGeom>
              <a:avLst/>
              <a:gdLst/>
              <a:ahLst/>
              <a:cxnLst/>
              <a:rect r="r" b="b" t="t" l="l"/>
              <a:pathLst>
                <a:path h="812800" w="1377117">
                  <a:moveTo>
                    <a:pt x="0" y="0"/>
                  </a:moveTo>
                  <a:lnTo>
                    <a:pt x="1377117" y="0"/>
                  </a:lnTo>
                  <a:lnTo>
                    <a:pt x="137711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1377117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58663" y="6325120"/>
            <a:ext cx="4661412" cy="2751252"/>
            <a:chOff x="0" y="0"/>
            <a:chExt cx="137711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7117" cy="812800"/>
            </a:xfrm>
            <a:custGeom>
              <a:avLst/>
              <a:gdLst/>
              <a:ahLst/>
              <a:cxnLst/>
              <a:rect r="r" b="b" t="t" l="l"/>
              <a:pathLst>
                <a:path h="812800" w="1377117">
                  <a:moveTo>
                    <a:pt x="0" y="0"/>
                  </a:moveTo>
                  <a:lnTo>
                    <a:pt x="1377117" y="0"/>
                  </a:lnTo>
                  <a:lnTo>
                    <a:pt x="137711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07A3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377117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65682" y="1388110"/>
            <a:ext cx="539361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76075" y="4211168"/>
            <a:ext cx="3817236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📊 To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tal Cost: $33,456,586</a:t>
            </a:r>
          </a:p>
          <a:p>
            <a:pPr algn="ctr">
              <a:lnSpc>
                <a:spcPts val="32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451500" y="4221722"/>
            <a:ext cx="3188971" cy="163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🎯 Total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Conversions: 110,940</a:t>
            </a:r>
          </a:p>
          <a:p>
            <a:pPr algn="ctr">
              <a:lnSpc>
                <a:spcPts val="32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319459" y="7289465"/>
            <a:ext cx="3817236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💰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Average CPA: $690.47</a:t>
            </a:r>
          </a:p>
          <a:p>
            <a:pPr algn="ctr">
              <a:lnSpc>
                <a:spcPts val="320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451500" y="7300019"/>
            <a:ext cx="3188971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👆 Tot</a:t>
            </a:r>
            <a:r>
              <a:rPr lang="en-US" sz="3200" spc="-128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Clicks: 2,379,250</a:t>
            </a:r>
          </a:p>
          <a:p>
            <a:pPr algn="ctr">
              <a:lnSpc>
                <a:spcPts val="32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335290"/>
            <a:ext cx="6477444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CPA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 re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ivel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high, in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icating ne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fo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optimizat</a:t>
            </a:r>
            <a:r>
              <a:rPr lang="en-US" sz="2400" spc="-48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902" y="696176"/>
            <a:ext cx="11988877" cy="4828723"/>
            <a:chOff x="0" y="0"/>
            <a:chExt cx="15985170" cy="6438297"/>
          </a:xfrm>
        </p:grpSpPr>
        <p:sp>
          <p:nvSpPr>
            <p:cNvPr name="AutoShape 3" id="3"/>
            <p:cNvSpPr/>
            <p:nvPr/>
          </p:nvSpPr>
          <p:spPr>
            <a:xfrm>
              <a:off x="0" y="6407939"/>
              <a:ext cx="3068751" cy="0"/>
            </a:xfrm>
            <a:prstGeom prst="line">
              <a:avLst/>
            </a:prstGeom>
            <a:ln cap="rnd" w="60715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15985170" cy="235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3"/>
                </a:lnSpc>
              </a:pPr>
              <a:r>
                <a:rPr lang="en-US" sz="6693" spc="-401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DAILY PERFORMANCE  TREND</a:t>
              </a:r>
            </a:p>
            <a:p>
              <a:pPr algn="l">
                <a:lnSpc>
                  <a:spcPts val="6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1902" y="1764189"/>
            <a:ext cx="14676083" cy="3559590"/>
          </a:xfrm>
          <a:custGeom>
            <a:avLst/>
            <a:gdLst/>
            <a:ahLst/>
            <a:cxnLst/>
            <a:rect r="r" b="b" t="t" l="l"/>
            <a:pathLst>
              <a:path h="3559590" w="14676083">
                <a:moveTo>
                  <a:pt x="0" y="0"/>
                </a:moveTo>
                <a:lnTo>
                  <a:pt x="14676084" y="0"/>
                </a:lnTo>
                <a:lnTo>
                  <a:pt x="14676084" y="3559589"/>
                </a:lnTo>
                <a:lnTo>
                  <a:pt x="0" y="355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937" r="0" b="-7979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5682" y="1388110"/>
            <a:ext cx="539361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569" y="6226485"/>
            <a:ext cx="6218108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b="tru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INSIGHTS: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1902" y="7276179"/>
            <a:ext cx="97055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Cost fluctuates between $805K–$1.5M da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902" y="8935434"/>
            <a:ext cx="100309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Peak effici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ency: Nov 14 (high conversions, moderate cost).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902" y="8158194"/>
            <a:ext cx="9705544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Conversions range from 2,860 to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5,190.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626339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902" y="696176"/>
            <a:ext cx="13482846" cy="5671150"/>
            <a:chOff x="0" y="0"/>
            <a:chExt cx="17977128" cy="7561534"/>
          </a:xfrm>
        </p:grpSpPr>
        <p:sp>
          <p:nvSpPr>
            <p:cNvPr name="AutoShape 3" id="3"/>
            <p:cNvSpPr/>
            <p:nvPr/>
          </p:nvSpPr>
          <p:spPr>
            <a:xfrm>
              <a:off x="0" y="7531176"/>
              <a:ext cx="3451157" cy="0"/>
            </a:xfrm>
            <a:prstGeom prst="line">
              <a:avLst/>
            </a:prstGeom>
            <a:ln cap="rnd" w="60715">
              <a:solidFill>
                <a:srgbClr val="C07A3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17977128" cy="2358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693"/>
                </a:lnSpc>
              </a:pPr>
              <a:r>
                <a:rPr lang="en-US" sz="6693" spc="-401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CPA OPTIMIZATION OPPORTUNITIE</a:t>
              </a:r>
            </a:p>
            <a:p>
              <a:pPr algn="l">
                <a:lnSpc>
                  <a:spcPts val="6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1902" y="1830791"/>
            <a:ext cx="15417271" cy="3202724"/>
          </a:xfrm>
          <a:custGeom>
            <a:avLst/>
            <a:gdLst/>
            <a:ahLst/>
            <a:cxnLst/>
            <a:rect r="r" b="b" t="t" l="l"/>
            <a:pathLst>
              <a:path h="3202724" w="15417271">
                <a:moveTo>
                  <a:pt x="0" y="0"/>
                </a:moveTo>
                <a:lnTo>
                  <a:pt x="15417271" y="0"/>
                </a:lnTo>
                <a:lnTo>
                  <a:pt x="15417271" y="3202724"/>
                </a:lnTo>
                <a:lnTo>
                  <a:pt x="0" y="3202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62" t="-184028" r="-226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65682" y="1388110"/>
            <a:ext cx="539361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9569" y="6226485"/>
            <a:ext cx="6218108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b="true">
                <a:solidFill>
                  <a:srgbClr val="C07A3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CRITICAL FINDINGS: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1902" y="7380954"/>
            <a:ext cx="97055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CPA consistently above $700 on weekends.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902" y="8158194"/>
            <a:ext cx="97055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Lowest CPA: Nov 8 ($689) → optimal day for ad sp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6339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1902" y="4507875"/>
            <a:ext cx="2213399" cy="0"/>
          </a:xfrm>
          <a:prstGeom prst="line">
            <a:avLst/>
          </a:prstGeom>
          <a:ln cap="rnd" w="47625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81902" y="810476"/>
            <a:ext cx="11529628" cy="85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6"/>
              </a:lnSpc>
            </a:pPr>
            <a:r>
              <a:rPr lang="en-US" sz="6436" spc="-3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Ad-Level Performance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81902" y="2169694"/>
            <a:ext cx="12767686" cy="3479221"/>
          </a:xfrm>
          <a:custGeom>
            <a:avLst/>
            <a:gdLst/>
            <a:ahLst/>
            <a:cxnLst/>
            <a:rect r="r" b="b" t="t" l="l"/>
            <a:pathLst>
              <a:path h="3479221" w="12767686">
                <a:moveTo>
                  <a:pt x="0" y="0"/>
                </a:moveTo>
                <a:lnTo>
                  <a:pt x="12767686" y="0"/>
                </a:lnTo>
                <a:lnTo>
                  <a:pt x="12767686" y="3479221"/>
                </a:lnTo>
                <a:lnTo>
                  <a:pt x="0" y="34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3" r="0" b="-111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238036"/>
            <a:ext cx="11085064" cy="229200"/>
            <a:chOff x="0" y="0"/>
            <a:chExt cx="812800" cy="168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6806"/>
            </a:xfrm>
            <a:custGeom>
              <a:avLst/>
              <a:gdLst/>
              <a:ahLst/>
              <a:cxnLst/>
              <a:rect r="r" b="b" t="t" l="l"/>
              <a:pathLst>
                <a:path h="16806" w="812800">
                  <a:moveTo>
                    <a:pt x="812800" y="0"/>
                  </a:moveTo>
                  <a:lnTo>
                    <a:pt x="812800" y="16806"/>
                  </a:lnTo>
                  <a:lnTo>
                    <a:pt x="0" y="16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73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1902" y="6217951"/>
            <a:ext cx="12767686" cy="3589726"/>
          </a:xfrm>
          <a:custGeom>
            <a:avLst/>
            <a:gdLst/>
            <a:ahLst/>
            <a:cxnLst/>
            <a:rect r="r" b="b" t="t" l="l"/>
            <a:pathLst>
              <a:path h="3589726" w="12767686">
                <a:moveTo>
                  <a:pt x="0" y="0"/>
                </a:moveTo>
                <a:lnTo>
                  <a:pt x="12767686" y="0"/>
                </a:lnTo>
                <a:lnTo>
                  <a:pt x="12767686" y="3589726"/>
                </a:lnTo>
                <a:lnTo>
                  <a:pt x="0" y="3589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7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65682" y="1388110"/>
            <a:ext cx="5393618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31">
                <a:solidFill>
                  <a:srgbClr val="C07A35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6339" y="8789670"/>
            <a:ext cx="632961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33809" y="4812062"/>
            <a:ext cx="11085064" cy="229200"/>
            <a:chOff x="0" y="0"/>
            <a:chExt cx="812800" cy="168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6806"/>
            </a:xfrm>
            <a:custGeom>
              <a:avLst/>
              <a:gdLst/>
              <a:ahLst/>
              <a:cxnLst/>
              <a:rect r="r" b="b" t="t" l="l"/>
              <a:pathLst>
                <a:path h="16806" w="812800">
                  <a:moveTo>
                    <a:pt x="812800" y="0"/>
                  </a:moveTo>
                  <a:lnTo>
                    <a:pt x="812800" y="16806"/>
                  </a:lnTo>
                  <a:lnTo>
                    <a:pt x="0" y="16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73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3680104"/>
            <a:ext cx="11085064" cy="229200"/>
            <a:chOff x="0" y="0"/>
            <a:chExt cx="812800" cy="168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6806"/>
            </a:xfrm>
            <a:custGeom>
              <a:avLst/>
              <a:gdLst/>
              <a:ahLst/>
              <a:cxnLst/>
              <a:rect r="r" b="b" t="t" l="l"/>
              <a:pathLst>
                <a:path h="16806" w="812800">
                  <a:moveTo>
                    <a:pt x="812800" y="0"/>
                  </a:moveTo>
                  <a:lnTo>
                    <a:pt x="812800" y="16806"/>
                  </a:lnTo>
                  <a:lnTo>
                    <a:pt x="0" y="168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73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1902" y="1787242"/>
            <a:ext cx="97055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•TOP PERFORMERS (High Conversion):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2515" y="5766332"/>
            <a:ext cx="970554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•UNDERPERFORMERS (High CPA):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33809" y="7469363"/>
            <a:ext cx="11348172" cy="210711"/>
            <a:chOff x="0" y="0"/>
            <a:chExt cx="812800" cy="15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5092"/>
            </a:xfrm>
            <a:custGeom>
              <a:avLst/>
              <a:gdLst/>
              <a:ahLst/>
              <a:cxnLst/>
              <a:rect r="r" b="b" t="t" l="l"/>
              <a:pathLst>
                <a:path h="15092" w="812800">
                  <a:moveTo>
                    <a:pt x="812800" y="0"/>
                  </a:moveTo>
                  <a:lnTo>
                    <a:pt x="812800" y="15092"/>
                  </a:lnTo>
                  <a:lnTo>
                    <a:pt x="0" y="15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12800" cy="7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6600722"/>
            <a:ext cx="11348172" cy="210711"/>
            <a:chOff x="0" y="0"/>
            <a:chExt cx="812800" cy="15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15092"/>
            </a:xfrm>
            <a:custGeom>
              <a:avLst/>
              <a:gdLst/>
              <a:ahLst/>
              <a:cxnLst/>
              <a:rect r="r" b="b" t="t" l="l"/>
              <a:pathLst>
                <a:path h="15092" w="812800">
                  <a:moveTo>
                    <a:pt x="812800" y="0"/>
                  </a:moveTo>
                  <a:lnTo>
                    <a:pt x="812800" y="15092"/>
                  </a:lnTo>
                  <a:lnTo>
                    <a:pt x="0" y="15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12800" cy="7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3809" y="9258300"/>
            <a:ext cx="11348172" cy="210711"/>
            <a:chOff x="0" y="0"/>
            <a:chExt cx="812800" cy="15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15092"/>
            </a:xfrm>
            <a:custGeom>
              <a:avLst/>
              <a:gdLst/>
              <a:ahLst/>
              <a:cxnLst/>
              <a:rect r="r" b="b" t="t" l="l"/>
              <a:pathLst>
                <a:path h="15092" w="812800">
                  <a:moveTo>
                    <a:pt x="812800" y="0"/>
                  </a:moveTo>
                  <a:lnTo>
                    <a:pt x="812800" y="15092"/>
                  </a:lnTo>
                  <a:lnTo>
                    <a:pt x="0" y="150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12800" cy="7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572263" y="2164432"/>
            <a:ext cx="4369355" cy="206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Conversions = 100 (this is the highest conversion number that appears repeatedly in the data)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CPA &lt; $25 (significantly below the average campaign CPA of $690)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572263" y="6246245"/>
            <a:ext cx="4369355" cy="17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Conversions = 30 (lowest number of conversions that consistently appear)</a:t>
            </a:r>
          </a:p>
          <a:p>
            <a:pPr algn="l">
              <a:lnSpc>
                <a:spcPts val="2380"/>
              </a:lnSpc>
            </a:pPr>
          </a:p>
          <a:p>
            <a:pPr algn="l">
              <a:lnSpc>
                <a:spcPts val="2380"/>
              </a:lnSpc>
            </a:pPr>
            <a:r>
              <a:rPr lang="en-US" sz="1700" spc="-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CPA &gt; $700 (significantly above the average campaign CPA of $690)</a:t>
            </a:r>
          </a:p>
          <a:p>
            <a:pPr algn="l">
              <a:lnSpc>
                <a:spcPts val="23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1698388"/>
            <a:ext cx="8115300" cy="305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80885" y="7286631"/>
            <a:ext cx="4126231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spc="-33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M. Rafif R.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086350" y="3933588"/>
            <a:ext cx="8115300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4000" spc="-8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3372" y="8241902"/>
            <a:ext cx="1224125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spc="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DAG4DQ1GRZU</dc:identifier>
  <dcterms:modified xsi:type="dcterms:W3CDTF">2011-08-01T06:04:30Z</dcterms:modified>
  <cp:revision>1</cp:revision>
  <dc:title>Almost White and Black Simple Professional Personal Portfolio Presentation</dc:title>
</cp:coreProperties>
</file>